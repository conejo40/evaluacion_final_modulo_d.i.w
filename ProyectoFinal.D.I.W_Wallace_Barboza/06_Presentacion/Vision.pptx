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42" r:id="rId2"/>
    <p:sldId id="373" r:id="rId3"/>
    <p:sldId id="382" r:id="rId4"/>
    <p:sldId id="374" r:id="rId5"/>
    <p:sldId id="384" r:id="rId6"/>
    <p:sldId id="387" r:id="rId7"/>
    <p:sldId id="386" r:id="rId8"/>
    <p:sldId id="385" r:id="rId9"/>
    <p:sldId id="390" r:id="rId10"/>
    <p:sldId id="375" r:id="rId11"/>
    <p:sldId id="389" r:id="rId12"/>
    <p:sldId id="377" r:id="rId13"/>
    <p:sldId id="383" r:id="rId14"/>
    <p:sldId id="376" r:id="rId15"/>
    <p:sldId id="391" r:id="rId1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A9C3D-ED4D-4D7A-BE90-FDB83F4B3C8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F027-9A76-4C99-BD46-9653AE546D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9235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1054-1306-2E82-522C-869C509A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407EC2-E379-3E0E-2F39-2998659F3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DBE785-09F1-0C66-133B-F8B18B705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864473-3B71-ECAF-732E-BFB7DFC20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7998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51EF7-25AD-DEDF-0DC4-62F2CEB9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720676-068C-B6D1-6AC8-D7B819EC9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6A55AC-DB3B-56C4-D442-9036CCC13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CB870A-39D5-E9A1-59BF-6444DFB33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1672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37CC-66B1-A5DD-927C-6ED3393E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1CDBED-EDF8-667F-C379-6BF53679F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7A8A41-6BD3-9B20-EC7E-F988943C7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1CA8C6-FDAB-7B22-544C-A62C8B2B9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5189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B986-6D5A-4398-A869-1983FF60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191DAE-4CB3-94A6-ADC2-ADCEE6A69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AC0DED-4C93-414D-E7A3-F9510D084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4619C7-7119-21B7-612F-685A9CAA0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8074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E93D-7101-5C51-4F2E-18E1E65D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D3E3DF-17FA-061A-FA4A-D208C67B2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F652A3-2FA4-0D84-79AE-2C3A5F097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3D0C28-A21C-0107-1C65-2A41F91DC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292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30057-386F-DD71-FC1D-34949BE3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7069E4-190D-1D8A-E53C-AC4746034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4A4C93-8F47-1D3B-6D63-E4E70EB7C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A1E622-C31D-B0BB-FA4C-48E5A28A1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3979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53C7-0810-6EA6-60F3-74852EB15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E78CB5-7CED-1E9F-3D92-02F81C856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42FA95-0B65-AF7D-0DC1-8C65F0CFD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0356B5-4575-1B02-E52A-C3F15EE7B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3162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95775-7923-6444-7D0A-CDF291EE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112693-41FA-6DBB-7497-A64C9A6A7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2736BA-9873-5C19-5A61-B469B85F8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BEC712-7DDB-BB40-5B97-5CD8BE32E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EF75CB5-5666-5049-9AE0-38EFD385C21E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821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F1B5E-F55E-2004-1063-7C5C5B7FA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93962B-962E-8C93-FD10-6047BD463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E464C-98DB-29C2-856A-CF12DC25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375E51-FEEB-A7D4-CEC8-A4B5D796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DD0EDE-45B8-EDA4-DA85-71658135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305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11F21-AF76-AEDB-39DF-258256BC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BCDDAA-1990-1C8C-FAB7-20C9592A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D02930-326F-3980-8237-16BFF081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1F652D-AEDF-E1D4-19E3-ECF3589C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8ED46-C31C-69C5-A053-17BF4E6D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1047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0308B-E76A-458F-3554-F4DB8188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C2261E-363F-7572-510C-705191611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83E91D-F65A-7516-A2E5-8B9B7D3C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C6C1C9-68FB-1465-AC74-82A48180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1660F9-10FA-04B7-B6CB-0D53347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24950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545F2-E172-55A0-3F39-3E485B93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4B0A48-0F71-1D9B-76AD-AC8E8A249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FEEBE2-C453-BABA-1691-14F95F59D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A35114-6B1F-3233-E785-0282BD90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65AA44-8F10-4CFA-F733-00E57986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1EFB2-B06C-F81A-CB16-D828BAF7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4905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B6DEE-F40B-88CB-E49E-B1247B14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6BE75D-DC7D-D728-8CD6-3F26AAA9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3CB04D-4F18-F230-66D7-18217CFE2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815C86-C4F8-316F-8A4C-C2F3941B8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0A699D-8037-23C8-95EE-F2A923A9E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6F541B-72D5-60A4-84E3-DC1494E32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CA692B-176C-4303-AAED-4D3AE02C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2CA4DB-E1AB-2F30-D365-4A2FD806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2824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1AD96-1256-54AE-F3C0-D3BBBD1F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85F8EE-054C-F6F8-3D55-214A0578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97F9BB-E295-3ADC-F90E-D8546DB8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1B07B3-7F96-AA2C-7094-9E158E21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7861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AEF846-8477-D017-7881-CB7493E3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550521-A1B3-56F6-6FB4-0746B27A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91E697-0279-F772-39A7-4F3153BD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1581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D9D0C-E681-60E8-7073-2A989B69B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92D31C-3F2B-14B7-297F-2F748E16E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39DD73-7F3B-F656-49FE-583CF0560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53B1CF-E304-7440-3568-DC51381A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A3CBC2-AF38-2B88-4D13-5F2C52C0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5CE605-E177-0CE8-8885-373CE8A1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4664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22F82-980A-6C2B-0465-E6DFA86C9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11E09FB-ADA5-DA79-D450-8E3636B42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2AC6E8-CD66-FF4C-46D0-07583957D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3C0658-65E7-3E92-6E1B-85928FD8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4D2601-E2A4-D798-021C-ABE0F291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901BC5-744B-006F-FEAB-214751E8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6243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7BBBB-564F-B06E-405A-E553F214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487336-B317-8AD0-3838-E5AFC73D4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1BFFEB-2247-751C-2827-960D73A1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01FB05-9CD6-6FEB-231D-22E5D110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48CF3E-F377-E5B9-E884-6733364C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3745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7FDCF4-F5D2-97B6-962A-991ADB1D9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4ADE89-E521-3C2C-5508-CC063B554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9F088-F2D9-F1D6-5429-B374D810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1CF40-6D4A-C782-4971-015A8467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EAA605-5C8B-70B0-4A4D-8AEC54FB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1080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2 colum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áfico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  <p:sp>
            <p:nvSpPr>
              <p:cNvPr id="13" name="Gráfico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áfico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  <p:sp>
            <p:nvSpPr>
              <p:cNvPr id="7" name="Gráfico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es-ES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2889526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2 colum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es-ES" sz="3200" cap="all" spc="3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es-ES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es-ES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754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e sección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es-ES" sz="2400" cap="all" spc="3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es-ES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es-ES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81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ítulo y 2 columna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es-ES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es-ES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es-ES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es-ES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es-ES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es-ES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es-ES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7136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2 colum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6" name="Imagen 5" descr="Espiral azul y púrpura&#10;&#10;Descripción generada automáticamente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áfico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  <p:sp>
            <p:nvSpPr>
              <p:cNvPr id="12" name="Gráfico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  <p:sp>
            <p:nvSpPr>
              <p:cNvPr id="13" name="Gráfico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áfico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  <p:sp>
            <p:nvSpPr>
              <p:cNvPr id="10" name="Gráfico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es-ES"/>
                </a:defPPr>
              </a:lstStyle>
              <a:p>
                <a:pPr rtl="0"/>
                <a:endParaRPr lang="es-ES" dirty="0"/>
              </a:p>
            </p:txBody>
          </p:sp>
        </p:grpSp>
      </p:grp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es-ES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es-ES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21" name="Marcador de contenido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es-ES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es-ES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es-ES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6916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ítulo y 2 colum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áfico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Gráfico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Gráfico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es-ES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s-ES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es-ES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es-ES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es-ES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9" name="Marcador de conteni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es-ES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es-ES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es-ES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es-ES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0891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7A3B4D-60E6-0B93-7DA2-EC20B975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AB251-3CCB-4535-1634-FC6835C2B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C701C-47B4-09BF-297D-D03C9F7C1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78CAD-2AD1-480A-80CD-333F535834D0}" type="datetimeFigureOut">
              <a:rPr lang="es-CR" smtClean="0"/>
              <a:t>28/6/2026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2C4BF8-116C-6BAC-2E2F-8E00D798D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2B77A-48BC-2549-570E-46DC14DA5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64926-3D13-4829-8474-7B89A4F98D3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21336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ES" b="1"/>
              <a:t>Vision</a:t>
            </a:r>
            <a:endParaRPr lang="en-US"/>
          </a:p>
        </p:txBody>
      </p:sp>
      <p:sp>
        <p:nvSpPr>
          <p:cNvPr id="9" name="Subtítulo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r>
              <a:rPr lang="es-ES" i="1"/>
              <a:t>Por Wallace Barboza</a:t>
            </a:r>
            <a:endParaRPr lang="en-US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11" y="3063701"/>
            <a:ext cx="11562303" cy="2387865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b="1" dirty="0">
                <a:solidFill>
                  <a:srgbClr val="FFFFFF"/>
                </a:solidFill>
                <a:latin typeface="Bierstadt"/>
                <a:cs typeface="Biome Light"/>
              </a:rPr>
              <a:t>Desing </a:t>
            </a:r>
            <a:r>
              <a:rPr lang="es-ES" b="1" dirty="0" err="1">
                <a:solidFill>
                  <a:srgbClr val="FFFFFF"/>
                </a:solidFill>
                <a:latin typeface="Bierstadt"/>
                <a:cs typeface="Biome Light"/>
              </a:rPr>
              <a:t>Strategic</a:t>
            </a:r>
            <a:endParaRPr lang="en-US" dirty="0" err="1">
              <a:cs typeface="Biome Light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6799-62DE-4BA5-608A-7BE398010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F5024DB7-816A-E84F-AB3E-C0C66419A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11" y="3063701"/>
            <a:ext cx="11562303" cy="2387865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b="1">
                <a:solidFill>
                  <a:srgbClr val="FFFFFF"/>
                </a:solidFill>
                <a:latin typeface="Bierstadt"/>
                <a:cs typeface="Biome Light"/>
              </a:rPr>
              <a:t>Racional creativo</a:t>
            </a:r>
            <a:endParaRPr lang="en-U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9ECD82-E5E2-E0B6-7779-498BE5E6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3</a:t>
            </a:fld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101AA-2CA6-0097-7E38-0C1C90341FE9}"/>
              </a:ext>
            </a:extLst>
          </p:cNvPr>
          <p:cNvSpPr txBox="1"/>
          <p:nvPr/>
        </p:nvSpPr>
        <p:spPr>
          <a:xfrm>
            <a:off x="4631095" y="3932333"/>
            <a:ext cx="2627085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Bierstadt"/>
              </a:rPr>
              <a:t>Contexto</a:t>
            </a:r>
            <a:endParaRPr lang="en-US" sz="3600">
              <a:solidFill>
                <a:schemeClr val="bg1"/>
              </a:solidFill>
              <a:latin typeface="Bierstadt"/>
            </a:endParaRPr>
          </a:p>
        </p:txBody>
      </p:sp>
    </p:spTree>
    <p:extLst>
      <p:ext uri="{BB962C8B-B14F-4D97-AF65-F5344CB8AC3E}">
        <p14:creationId xmlns:p14="http://schemas.microsoft.com/office/powerpoint/2010/main" val="1135789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39" y="2821179"/>
            <a:ext cx="4958081" cy="238786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Objetivos del diseño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51B952-84EB-93E5-1FB0-B809075A4BC9}"/>
              </a:ext>
            </a:extLst>
          </p:cNvPr>
          <p:cNvSpPr txBox="1"/>
          <p:nvPr/>
        </p:nvSpPr>
        <p:spPr>
          <a:xfrm>
            <a:off x="6431281" y="2821179"/>
            <a:ext cx="5122170" cy="185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Mejorar ventas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Ofrecer un espacio de entretenimiento para todo el público.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Expandir el negocio de forma digital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Ofrecer más productos como series y que sean de mayor calidad.</a:t>
            </a: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01745-1310-1587-D5D9-73918100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951CE08F-1659-AE33-8E5E-0EA9ADF6A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848" y="2419124"/>
            <a:ext cx="11562303" cy="2387865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n-US" dirty="0">
                <a:solidFill>
                  <a:schemeClr val="bg1"/>
                </a:solidFill>
              </a:rPr>
              <a:t>Publico meta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8C5BE2-7533-EF3B-D812-54291058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5</a:t>
            </a:fld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E5E55-4188-0BD1-8C96-9A68B802E833}"/>
              </a:ext>
            </a:extLst>
          </p:cNvPr>
          <p:cNvSpPr txBox="1"/>
          <p:nvPr/>
        </p:nvSpPr>
        <p:spPr>
          <a:xfrm>
            <a:off x="1993692" y="3932333"/>
            <a:ext cx="8964117" cy="120032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3600" dirty="0">
                <a:solidFill>
                  <a:schemeClr val="bg1"/>
                </a:solidFill>
              </a:rPr>
              <a:t>Pagina dedicada a personas de todas las edades</a:t>
            </a:r>
          </a:p>
        </p:txBody>
      </p:sp>
    </p:spTree>
    <p:extLst>
      <p:ext uri="{BB962C8B-B14F-4D97-AF65-F5344CB8AC3E}">
        <p14:creationId xmlns:p14="http://schemas.microsoft.com/office/powerpoint/2010/main" val="338787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0CA3-936A-88A1-D450-2A1F9EF1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30D1407F-4539-E622-6E66-320E46688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11" y="3063701"/>
            <a:ext cx="11562303" cy="2387865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b="1" dirty="0">
                <a:solidFill>
                  <a:srgbClr val="FFFFFF"/>
                </a:solidFill>
                <a:latin typeface="Bierstadt"/>
                <a:cs typeface="Biome Light"/>
              </a:rPr>
              <a:t>Elementos visuales</a:t>
            </a:r>
            <a:endParaRPr lang="en-US" dirty="0" err="1">
              <a:cs typeface="Biome Light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AB23869-C03D-DD68-2DE6-B619041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229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2AFA-688E-A429-3FAA-5EAC272B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E33AE546-A90B-92EC-F9FA-CFB868E5E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39" y="2391636"/>
            <a:ext cx="4958081" cy="921189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Paleta de colores: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E4C3AB-E81C-211B-BC41-6E657C9A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0612241-57C6-4FB5-EA5B-462FB2500793}"/>
              </a:ext>
            </a:extLst>
          </p:cNvPr>
          <p:cNvSpPr txBox="1"/>
          <p:nvPr/>
        </p:nvSpPr>
        <p:spPr>
          <a:xfrm>
            <a:off x="802639" y="3749863"/>
            <a:ext cx="4958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>
                <a:solidFill>
                  <a:schemeClr val="bg1"/>
                </a:solidFill>
              </a:rPr>
              <a:t>El negro para la elegancia, el morado y el blanco para la frescura.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>
                <a:solidFill>
                  <a:schemeClr val="bg1"/>
                </a:solidFill>
              </a:rPr>
              <a:t>Negro para el fondo, blanco para el texto y morado para el </a:t>
            </a:r>
            <a:r>
              <a:rPr lang="es-CR" dirty="0" err="1">
                <a:solidFill>
                  <a:schemeClr val="bg1"/>
                </a:solidFill>
              </a:rPr>
              <a:t>hover</a:t>
            </a:r>
            <a:r>
              <a:rPr lang="es-CR" dirty="0">
                <a:solidFill>
                  <a:schemeClr val="bg1"/>
                </a:solidFill>
              </a:rPr>
              <a:t>.</a:t>
            </a:r>
          </a:p>
          <a:p>
            <a:endParaRPr lang="es-C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CR" dirty="0"/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AD9AED58-7593-D3F7-3809-0ADCFE722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03" y="1926326"/>
            <a:ext cx="5728135" cy="30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8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6028-03B9-4EA3-4DDD-040CDDAFF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393AC20C-9A66-E8D0-35EF-0011C747A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39" y="2821180"/>
            <a:ext cx="4958081" cy="71650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Tipografías: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52C2D4-0882-917C-59B2-62346AE4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8</a:t>
            </a:fld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1278BE-4C85-4BF4-75E2-50F609AD5A8A}"/>
              </a:ext>
            </a:extLst>
          </p:cNvPr>
          <p:cNvSpPr txBox="1"/>
          <p:nvPr/>
        </p:nvSpPr>
        <p:spPr>
          <a:xfrm>
            <a:off x="802639" y="3749863"/>
            <a:ext cx="4054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Bebas Neue Para Títulos, Catálogos y Categorías y </a:t>
            </a:r>
            <a:r>
              <a:rPr lang="es-CR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roboto</a:t>
            </a:r>
            <a:r>
              <a:rPr lang="es-C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menús, botones y descripciones.</a:t>
            </a:r>
          </a:p>
          <a:p>
            <a:endParaRPr lang="es-CR" dirty="0"/>
          </a:p>
        </p:txBody>
      </p:sp>
      <p:pic>
        <p:nvPicPr>
          <p:cNvPr id="3" name="Marcador de contenido 4">
            <a:extLst>
              <a:ext uri="{FF2B5EF4-FFF2-40B4-BE49-F238E27FC236}">
                <a16:creationId xmlns:a16="http://schemas.microsoft.com/office/drawing/2014/main" id="{E51DD8AA-FBC1-12BB-0555-947C01539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522" y="2136684"/>
            <a:ext cx="5758898" cy="281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6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FD23-3236-5239-12BA-165DCCF4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9036DDA8-62AA-AD3C-E023-2AA3AD900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39" y="2821180"/>
            <a:ext cx="4958081" cy="71650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ICONOGRAFIAS: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AD1CB0-0422-A5BD-BF6E-CC251B2F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C4D2AC-3661-AAED-7BDE-81052ADBBFC3}"/>
              </a:ext>
            </a:extLst>
          </p:cNvPr>
          <p:cNvSpPr txBox="1"/>
          <p:nvPr/>
        </p:nvSpPr>
        <p:spPr>
          <a:xfrm>
            <a:off x="802639" y="3749863"/>
            <a:ext cx="4054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sección verán los diferentes iconos usados en ambas versiones.</a:t>
            </a:r>
          </a:p>
          <a:p>
            <a:endParaRPr lang="es-C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D9FA7F-FD72-1949-66E7-D78AA4D0D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03" y="832836"/>
            <a:ext cx="4054174" cy="29170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9895E54-CCA1-B40B-3EB8-5C216C4E4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03" y="4360599"/>
            <a:ext cx="4515480" cy="204816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6EFE5EB-C9AC-D524-5B8C-96935DD94442}"/>
              </a:ext>
            </a:extLst>
          </p:cNvPr>
          <p:cNvSpPr txBox="1"/>
          <p:nvPr/>
        </p:nvSpPr>
        <p:spPr>
          <a:xfrm>
            <a:off x="6220911" y="3991267"/>
            <a:ext cx="222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>
                <a:solidFill>
                  <a:schemeClr val="bg1"/>
                </a:solidFill>
              </a:rPr>
              <a:t>Versión móvil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367C4B-1545-1DE0-5607-F9ECED4FF646}"/>
              </a:ext>
            </a:extLst>
          </p:cNvPr>
          <p:cNvSpPr txBox="1"/>
          <p:nvPr/>
        </p:nvSpPr>
        <p:spPr>
          <a:xfrm>
            <a:off x="6583612" y="342802"/>
            <a:ext cx="222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>
                <a:solidFill>
                  <a:schemeClr val="bg1"/>
                </a:solidFill>
              </a:rPr>
              <a:t>Versión de escritorio</a:t>
            </a:r>
          </a:p>
        </p:txBody>
      </p:sp>
    </p:spTree>
    <p:extLst>
      <p:ext uri="{BB962C8B-B14F-4D97-AF65-F5344CB8AC3E}">
        <p14:creationId xmlns:p14="http://schemas.microsoft.com/office/powerpoint/2010/main" val="157654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Elementos funcionales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navegación: menú intuitivo para su fácil acceso a las diferentes áreas de la página.</a:t>
            </a:r>
          </a:p>
          <a:p>
            <a:r>
              <a:rPr lang="es-CR" dirty="0"/>
              <a:t>Interactividad: Hover para mejorar la interacción visual de la página.</a:t>
            </a:r>
          </a:p>
          <a:p>
            <a:r>
              <a:rPr lang="es-CR" dirty="0"/>
              <a:t>Responsividad: diseño optimizado para dispositivos móviles y pantallas planas HD.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BF74-8E16-7A65-5CD9-8E503877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1DD2CA2D-E456-DF74-CEB6-75DDD78A7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39" y="2821180"/>
            <a:ext cx="4958081" cy="71650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boceto: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2D8B5A-3F40-8BC2-39FB-EB54BCE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11</a:t>
            </a:fld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B22680-BDF6-9E2F-59DD-A8C160DB4332}"/>
              </a:ext>
            </a:extLst>
          </p:cNvPr>
          <p:cNvSpPr txBox="1"/>
          <p:nvPr/>
        </p:nvSpPr>
        <p:spPr>
          <a:xfrm>
            <a:off x="802639" y="3749863"/>
            <a:ext cx="4054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</a:rPr>
              <a:t>Boceto hecho a mano donde se intenta de reflejar las ideas del cliente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2E81CD-467D-8D3C-044B-E1A789762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441" y="108604"/>
            <a:ext cx="4958079" cy="648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0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wireframe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12</a:t>
            </a:fld>
            <a:endParaRPr lang="es-E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C87DE72-C2EA-5B78-8182-D605121A2BA8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10" y="2345096"/>
            <a:ext cx="4326291" cy="3724275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04B30605-4EEE-E16A-83FC-DA5AE676F913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235" y="2345096"/>
            <a:ext cx="3775075" cy="264376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777531C-0E27-8BD3-C941-B8F5171A7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842" y="2345096"/>
            <a:ext cx="2450752" cy="311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Mockups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13</a:t>
            </a:fld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9FF3549-1DA5-74A0-CF65-77AB0D6F8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184" y="2565123"/>
            <a:ext cx="2228556" cy="40262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B90FBFE-2F37-888A-5BFE-31C0C99FB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694" y="2565123"/>
            <a:ext cx="1677458" cy="3648468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9405FA28-31D0-D232-4BC0-BA73A17F3152}"/>
              </a:ext>
            </a:extLst>
          </p:cNvPr>
          <p:cNvSpPr txBox="1"/>
          <p:nvPr/>
        </p:nvSpPr>
        <p:spPr>
          <a:xfrm>
            <a:off x="6177145" y="2195791"/>
            <a:ext cx="222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>
                <a:solidFill>
                  <a:schemeClr val="bg1"/>
                </a:solidFill>
              </a:rPr>
              <a:t>Versión móvil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809A6DA-3F5B-DA76-3E84-078A1E3B4610}"/>
              </a:ext>
            </a:extLst>
          </p:cNvPr>
          <p:cNvSpPr txBox="1"/>
          <p:nvPr/>
        </p:nvSpPr>
        <p:spPr>
          <a:xfrm>
            <a:off x="3696184" y="2195791"/>
            <a:ext cx="222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>
                <a:solidFill>
                  <a:schemeClr val="bg1"/>
                </a:solidFill>
              </a:rPr>
              <a:t>Versión de escritorio</a:t>
            </a:r>
          </a:p>
        </p:txBody>
      </p:sp>
    </p:spTree>
    <p:extLst>
      <p:ext uri="{BB962C8B-B14F-4D97-AF65-F5344CB8AC3E}">
        <p14:creationId xmlns:p14="http://schemas.microsoft.com/office/powerpoint/2010/main" val="209839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Prototipo en </a:t>
            </a:r>
            <a:r>
              <a:rPr lang="es-ES" dirty="0" err="1"/>
              <a:t>figma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293257"/>
            <a:ext cx="8207912" cy="1480457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Versión de escritorio:</a:t>
            </a:r>
          </a:p>
          <a:p>
            <a:r>
              <a:rPr lang="es-ES" dirty="0"/>
              <a:t>https://www.figma.com/proto/vi4rFSm1baq3k2mJu5M3t7/Vision?node-id=63-293&amp;p=f&amp;t=waCEPvVnLAxknEIg-1&amp;scaling=min-zoom&amp;content-scaling=fixed&amp;page-id=2%3A108&amp;starting-point-node-id=63%3A293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373002" y="4355647"/>
            <a:ext cx="8440141" cy="185057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Versión móvil:</a:t>
            </a:r>
          </a:p>
          <a:p>
            <a:r>
              <a:rPr lang="es-ES" dirty="0"/>
              <a:t>https://www.figma.com/proto/vi4rFSm1baq3k2mJu5M3t7/Vision?node-id=119-57&amp;t=TCFVOBgJW7iN9R9H-1&amp;scaling=min-zoom&amp;content-scaling=fixed&amp;page-id=99%3A695&amp;starting-point-node-id=103%3A732</a:t>
            </a:r>
          </a:p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36C2-A54E-16FA-D4F0-8F27D8D3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F2BAA-DF83-9E67-E20A-C13CC38B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R" dirty="0"/>
              <a:t>Criterios wcag2.1aa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C9ECB0D-DE73-FC30-D715-532F178B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FE024F78-56A6-7740-B68D-8D4D026EDF3F}" type="slidenum">
              <a:rPr lang="es-ES" smtClean="0"/>
              <a:pPr rtl="0"/>
              <a:t>15</a:t>
            </a:fld>
            <a:endParaRPr lang="es-ES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BBF1429-BBC4-8A1B-F71F-A72704947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92100"/>
              </p:ext>
            </p:extLst>
          </p:nvPr>
        </p:nvGraphicFramePr>
        <p:xfrm>
          <a:off x="3305669" y="2254882"/>
          <a:ext cx="7758340" cy="28337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9170">
                  <a:extLst>
                    <a:ext uri="{9D8B030D-6E8A-4147-A177-3AD203B41FA5}">
                      <a16:colId xmlns:a16="http://schemas.microsoft.com/office/drawing/2014/main" val="4267470850"/>
                    </a:ext>
                  </a:extLst>
                </a:gridCol>
                <a:gridCol w="1939170">
                  <a:extLst>
                    <a:ext uri="{9D8B030D-6E8A-4147-A177-3AD203B41FA5}">
                      <a16:colId xmlns:a16="http://schemas.microsoft.com/office/drawing/2014/main" val="386799342"/>
                    </a:ext>
                  </a:extLst>
                </a:gridCol>
                <a:gridCol w="1940000">
                  <a:extLst>
                    <a:ext uri="{9D8B030D-6E8A-4147-A177-3AD203B41FA5}">
                      <a16:colId xmlns:a16="http://schemas.microsoft.com/office/drawing/2014/main" val="2825494"/>
                    </a:ext>
                  </a:extLst>
                </a:gridCol>
                <a:gridCol w="1940000">
                  <a:extLst>
                    <a:ext uri="{9D8B030D-6E8A-4147-A177-3AD203B41FA5}">
                      <a16:colId xmlns:a16="http://schemas.microsoft.com/office/drawing/2014/main" val="634655984"/>
                    </a:ext>
                  </a:extLst>
                </a:gridCol>
              </a:tblGrid>
              <a:tr h="352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CRITERIO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RESULTADO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OBSERVACION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MEJORA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0362276"/>
                  </a:ext>
                </a:extLst>
              </a:tr>
              <a:tr h="352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Contraste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Logrado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Buen contraste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Ninguna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8997276"/>
                  </a:ext>
                </a:extLst>
              </a:tr>
              <a:tr h="352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Tipografía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Logrado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Clara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Ninguna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9129708"/>
                  </a:ext>
                </a:extLst>
              </a:tr>
              <a:tr h="352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Navegación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Logrado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Menú sencillo 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Ninguna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7351040"/>
                  </a:ext>
                </a:extLst>
              </a:tr>
              <a:tr h="352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Interacción 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Logrado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Hover llamativo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Ninguna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3087070"/>
                  </a:ext>
                </a:extLst>
              </a:tr>
              <a:tr h="3525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Formulario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Logrado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Fácil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Ninguna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66780"/>
                  </a:ext>
                </a:extLst>
              </a:tr>
              <a:tr h="7184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Responsive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Logrado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>
                          <a:effectLst/>
                        </a:rPr>
                        <a:t>Responsive en ambas versiones</a:t>
                      </a:r>
                      <a:endParaRPr lang="es-C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100" dirty="0">
                          <a:effectLst/>
                        </a:rPr>
                        <a:t>Ninguna</a:t>
                      </a:r>
                      <a:endParaRPr lang="es-C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101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570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342</Words>
  <Application>Microsoft Office PowerPoint</Application>
  <PresentationFormat>Panorámica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Bierstadt</vt:lpstr>
      <vt:lpstr>Biome Light</vt:lpstr>
      <vt:lpstr>Calibri</vt:lpstr>
      <vt:lpstr>Symbol</vt:lpstr>
      <vt:lpstr>Tema de Office</vt:lpstr>
      <vt:lpstr>Vision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Elementos funcionales</vt:lpstr>
      <vt:lpstr>Presentación de PowerPoint</vt:lpstr>
      <vt:lpstr>wireframe</vt:lpstr>
      <vt:lpstr>Mockups</vt:lpstr>
      <vt:lpstr>Prototipo en figma</vt:lpstr>
      <vt:lpstr>Criterios wcag2.1aa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JOSUE DANIEL BARBOZA PANIAGUA</dc:creator>
  <cp:lastModifiedBy>JOSUE DANIEL BARBOZA PANIAGUA</cp:lastModifiedBy>
  <cp:revision>2</cp:revision>
  <dcterms:created xsi:type="dcterms:W3CDTF">2026-06-29T01:30:26Z</dcterms:created>
  <dcterms:modified xsi:type="dcterms:W3CDTF">2026-06-29T04:01:30Z</dcterms:modified>
</cp:coreProperties>
</file>